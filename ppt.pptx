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30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293" r:id="rId48"/>
    <p:sldId id="294" r:id="rId49"/>
    <p:sldId id="295" r:id="rId50"/>
    <p:sldId id="296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0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0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9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65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73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4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3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7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5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8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9317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92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4794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20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04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4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CITY-WISE AIR QUALITY INDEX (AQI)</a:t>
            </a:r>
            <a:br>
              <a:rPr lang="en-GB" dirty="0" smtClean="0"/>
            </a:br>
            <a:r>
              <a:rPr lang="en-GB" dirty="0" smtClean="0"/>
              <a:t>AND AIR POLLUTION ANALYSIS</a:t>
            </a:r>
            <a:br>
              <a:rPr lang="en-GB" dirty="0" smtClean="0"/>
            </a:b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599" y="2977227"/>
            <a:ext cx="6347714" cy="3880773"/>
          </a:xfrm>
        </p:spPr>
        <p:txBody>
          <a:bodyPr/>
          <a:lstStyle/>
          <a:p>
            <a:r>
              <a:rPr lang="en-GB" dirty="0" smtClean="0"/>
              <a:t>Python data analytics project</a:t>
            </a:r>
            <a:endParaRPr lang="en-IN" dirty="0"/>
          </a:p>
          <a:p>
            <a:r>
              <a:rPr lang="en-GB" dirty="0" smtClean="0"/>
              <a:t>Student Name:-</a:t>
            </a:r>
            <a:r>
              <a:rPr lang="en-GB" dirty="0" err="1" smtClean="0"/>
              <a:t>Bhayani</a:t>
            </a:r>
            <a:r>
              <a:rPr lang="en-GB" dirty="0" smtClean="0"/>
              <a:t> </a:t>
            </a:r>
            <a:r>
              <a:rPr lang="en-GB" dirty="0" err="1" smtClean="0"/>
              <a:t>Venish</a:t>
            </a:r>
            <a:r>
              <a:rPr lang="en-GB" dirty="0" smtClean="0"/>
              <a:t> M.(seat no:-3130)</a:t>
            </a:r>
            <a:endParaRPr lang="en-IN" dirty="0"/>
          </a:p>
          <a:p>
            <a:r>
              <a:rPr lang="en-GB" dirty="0" smtClean="0"/>
              <a:t>Student Name:-</a:t>
            </a:r>
            <a:r>
              <a:rPr lang="en-GB" dirty="0" err="1" smtClean="0"/>
              <a:t>Sodvadiya</a:t>
            </a:r>
            <a:r>
              <a:rPr lang="en-GB" dirty="0" smtClean="0"/>
              <a:t> Nil V.(seat no:-3167)</a:t>
            </a:r>
          </a:p>
          <a:p>
            <a:r>
              <a:rPr lang="en-GB" dirty="0" smtClean="0"/>
              <a:t>Course:-BCA</a:t>
            </a:r>
          </a:p>
          <a:p>
            <a:r>
              <a:rPr lang="en-GB" dirty="0" smtClean="0"/>
              <a:t>University:-Veer </a:t>
            </a:r>
            <a:r>
              <a:rPr lang="en-GB" dirty="0" err="1" smtClean="0"/>
              <a:t>Narmad</a:t>
            </a:r>
            <a:r>
              <a:rPr lang="en-GB" dirty="0" smtClean="0"/>
              <a:t> South Gujrat University</a:t>
            </a:r>
          </a:p>
          <a:p>
            <a:r>
              <a:rPr lang="en-GB" dirty="0" smtClean="0"/>
              <a:t>Guide Name:-</a:t>
            </a:r>
            <a:r>
              <a:rPr lang="en-GB" smtClean="0"/>
              <a:t>Krishna Trivedi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73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Domain: Data Analytics &amp; Environmental Analysis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Programming Language: Python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Libraries: Pandas, NumPy, Matplotlib, Seaborn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IDE: Jupyter Notebook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Dataset Type: CSV Air Quality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Air pollution is a growing global environmental concern affecting millions.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Causes severe respiratory and cardiovascular health issues over time.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Air Quality Index (AQI) acts as a standard measure for tracking pollution.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Continuous monitoring is essential for public health awareness and safety.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Data analysis helps governments implement timely regulatory policies.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Utilizes Python for comprehensive city-wise AQI analysis and tracking.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Processes large datasets to clean and structure raw air quality data efficiently.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Calculates accurate AQI values based on respective pollutant concentrations.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Identifies highly polluted cities and evaluates geographical distribution patterns.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Generates visual reports to make data easily understandable for stakeholders.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Objectives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>
            <a:normAutofit fontScale="77500" lnSpcReduction="20000"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To analyze historical air quality distributions across multiple Indian cities.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To identify the major underlying pollutants contributing to high AQI levels.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To compare pollution levels between different geographical zones systematically.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To detect seasonal or periodic trends in air quality variations.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To build automated data cleaning and structural transformation pipelines.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To provide statistical evidence for environmental policy making and compliance.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To develop visual dashboards and clean reports for easy interpretation.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Raw environmental data is often unstructured and contains large missing values.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Difficult for non-technical users to interpret raw pollutant metrics daily.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Lack of integrated systems to compare multiple cities simultaneously.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Manual analysis of thousands of rows of data is error-prone, costly, and slow.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Clear need for an automated, analytics-driven approach to decipher AQI patterns.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Features of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>
            <a:normAutofit fontScale="92500" lnSpcReduction="20000"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Automated Data Cleaning: Handles missing values and outliers efficiently.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Exploratory Data Analysis: Deep dive into complex pollutant distributions.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Correlation Tracking: Finds mathematical relationships between different gases.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Advanced Visualizations: Renders automatic heatmaps, scatter plots, and bars.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Scalability: Can easily integrate larger datasets in the future.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User-Friendly Insights: Transforms numbers into actionable text summaries.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Processor: Intel Core i3 / AMD Ryzen 3 (or higher equivalent)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RAM: 4 GB (8 GB highly recommended for large analytical datasets)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Storage: 256 GB SSD / HDD (Minimum 1 GB free space for packages)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Graphics: Standard Integrated Graphics for chart rendering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Display: 1366x768 resolution or higher for optimal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Operating System: Windows 10/11, macOS, or Linux based distributions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Core Programming Language: Python 3.8 or above installed on system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Development Environment: Jupyter Notebook / Visual Studio Code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Data Processing Libraries: Pandas, NumPy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Data Visualization Libraries: Matplotlib, Seaborn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80836"/>
            <a:ext cx="6347713" cy="13208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478" y="822960"/>
            <a:ext cx="7315200" cy="1828800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The primary dataset contains historical daily records of detailed air quality.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Key Attributes Included: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City, AQI, AQI Category, PM2.5, PM10, NO2, SO2, CO, O3.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3-13 121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91" y="2580968"/>
            <a:ext cx="5640055" cy="3636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3427" y="5989320"/>
            <a:ext cx="5640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Dataset Initial Load &amp; First Few Rows via Pandas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 Overview - Continued</a:t>
            </a:r>
          </a:p>
        </p:txBody>
      </p:sp>
      <p:pic>
        <p:nvPicPr>
          <p:cNvPr id="3" name="Picture 2" descr="Screenshot 2026-03-13 121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76" y="1270000"/>
            <a:ext cx="518029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7957" y="5725324"/>
            <a:ext cx="5180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Dataset Structure, Tail Output, Info &amp; Statistical Descriptive Summary via Pandas (Part 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 Overview - Continued</a:t>
            </a:r>
          </a:p>
        </p:txBody>
      </p:sp>
      <p:pic>
        <p:nvPicPr>
          <p:cNvPr id="3" name="Picture 2" descr="Screenshot 2026-03-13 121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32" y="1451242"/>
            <a:ext cx="5261846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11811" y="5794150"/>
            <a:ext cx="52618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Dataset Structure, Tail Output, Info &amp; Statistical Descriptive Summary via Pandas (Part 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7315200" cy="1371600"/>
          </a:xfrm>
        </p:spPr>
        <p:txBody>
          <a:bodyPr>
            <a:normAutofit fontScale="62500" lnSpcReduction="20000"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Structure: Tabular data format stored primarily as Comma Separated Values (CSV).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Numeric Types: Float/Integer values for precise pollutant concentrations.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Categorical Types: Text string data for City names and nominal AQI Categories.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3-13 1214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7772400" cy="37238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8269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t>Code Output: Automatic Identification of Qualitative vs Quantitative Data Attributes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>
            <a:normAutofit fontScale="92500" lnSpcReduction="20000"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Step 1 - Data Collection: Importing the raw CSV dataset into a dataframe.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Step 2 - Data Cleaning: Removing nulls and standardizing varied formats.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Step 3 - Exploratory Data Analysis: Initial statistical review of distributions.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Step 4 - Statistical &amp; Regression Analysis: Finding mathematical dependencies.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Step 5 - Data Visualization: Plotting insights graphically using Python tools.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Step 6 - Insights &amp; Reporting: Concluding findings and finalizing reports.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779" y="462280"/>
            <a:ext cx="6347713" cy="13208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425" y="984134"/>
            <a:ext cx="7315200" cy="1371600"/>
          </a:xfrm>
        </p:spPr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Missing Value Treatment: Using median imputation for critical numeric features.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Outlier Detection: Removing external anomalous sensor readings and spikes.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Type Conversion: Ensuring precise dates and numbers are properly formatted.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3-13 1215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05" y="2424314"/>
            <a:ext cx="6496259" cy="3725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6283" y="5989320"/>
            <a:ext cx="64962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Handling Missing Values Code (Mean/Median Imputation via Pandas </a:t>
            </a:r>
            <a:r>
              <a:rPr dirty="0" err="1"/>
              <a:t>FillNA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341" y="43754"/>
            <a:ext cx="6347713" cy="13208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Data Cleaning Pipelines - Continued</a:t>
            </a:r>
          </a:p>
        </p:txBody>
      </p:sp>
      <p:pic>
        <p:nvPicPr>
          <p:cNvPr id="3" name="Picture 2" descr="Screenshot 2026-03-13 1215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124" y="1364554"/>
            <a:ext cx="4335517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74976" y="5642733"/>
            <a:ext cx="43355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Automated verification steps for missing rows and duplication logic via pandas (Part 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Cleaning Pipelines - Continued</a:t>
            </a:r>
          </a:p>
        </p:txBody>
      </p:sp>
      <p:pic>
        <p:nvPicPr>
          <p:cNvPr id="3" name="Picture 2" descr="Screenshot 2026-03-13 121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93" y="1824867"/>
            <a:ext cx="5537612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5541" y="5939667"/>
            <a:ext cx="55376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Automated verification steps for missing rows and duplication logic via pandas (Part 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Cleaning Pipelines - Continued</a:t>
            </a:r>
          </a:p>
        </p:txBody>
      </p:sp>
      <p:pic>
        <p:nvPicPr>
          <p:cNvPr id="3" name="Picture 2" descr="Screenshot 2026-03-13 121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476" y="1930400"/>
            <a:ext cx="5635046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85650" y="5989320"/>
            <a:ext cx="56350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Automated verification steps for missing rows and duplication logic via pandas (Part 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Cleaning Formatting - Continued</a:t>
            </a:r>
          </a:p>
        </p:txBody>
      </p:sp>
      <p:pic>
        <p:nvPicPr>
          <p:cNvPr id="3" name="Picture 2" descr="Screenshot 2026-03-13 1215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7772400" cy="378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8928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t>String normalization, IQR based outlier removal, and final clean data shape outputs (Part 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Cleaning Formatting - Continued</a:t>
            </a:r>
          </a:p>
        </p:txBody>
      </p:sp>
      <p:pic>
        <p:nvPicPr>
          <p:cNvPr id="3" name="Picture 2" descr="Screenshot 2026-03-13 1216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510" y="1657718"/>
            <a:ext cx="6132977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58027" y="5893455"/>
            <a:ext cx="613297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String normalization, IQR based outlier removal, and final clean data shape outputs (Part 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Cleaning Formatting - Continued</a:t>
            </a:r>
          </a:p>
        </p:txBody>
      </p:sp>
      <p:pic>
        <p:nvPicPr>
          <p:cNvPr id="3" name="Picture 2" descr="Screenshot 2026-03-13 1216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7772400" cy="4078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18134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String normalization, IQR based outlier removal, and final clean data shape outputs (Part 3)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Cleaning Formatting - Continued</a:t>
            </a:r>
          </a:p>
        </p:txBody>
      </p:sp>
      <p:pic>
        <p:nvPicPr>
          <p:cNvPr id="3" name="Picture 2" descr="Screenshot 2026-03-13 1216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006" y="1983166"/>
            <a:ext cx="6589986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7006" y="5989320"/>
            <a:ext cx="65899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String normalization, IQR based outlier removal, and final clean data shape outputs (Part 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91160"/>
            <a:ext cx="6347713" cy="13208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399" y="894244"/>
            <a:ext cx="7315200" cy="1371600"/>
          </a:xfrm>
        </p:spPr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Univariate Analysis: Analyzing individual variables independently.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Bivariate Analysis: Comparing combinations of two variables (e.g., AQI vs PM2.5).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Multivariate Analysis: Finding multiple complex interactions.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3-13 1216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131" y="2331720"/>
            <a:ext cx="4479737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2130" y="5826596"/>
            <a:ext cx="447973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Univariate Analysis: Distribution of the Calculated Air Quality Index (Histogram)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Exploratory Data Analysis - Continued</a:t>
            </a:r>
          </a:p>
        </p:txBody>
      </p:sp>
      <p:pic>
        <p:nvPicPr>
          <p:cNvPr id="3" name="Picture 2" descr="Screenshot 2026-03-13 1217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497" y="1628222"/>
            <a:ext cx="451900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12497" y="5813814"/>
            <a:ext cx="45190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Various scatter plots profiling relationships between discrete specific pollutants &amp; AQI value (Part 1)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Exploratory Data Analysis - Continued</a:t>
            </a:r>
          </a:p>
        </p:txBody>
      </p:sp>
      <p:pic>
        <p:nvPicPr>
          <p:cNvPr id="3" name="Picture 2" descr="Screenshot 2026-03-13 121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268" y="1824867"/>
            <a:ext cx="442946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7267" y="5989320"/>
            <a:ext cx="442946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Various scatter plots profiling relationships between discrete specific pollutants &amp; AQI value (Part 2)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Exploratory Data Analysis - Continued</a:t>
            </a:r>
          </a:p>
        </p:txBody>
      </p:sp>
      <p:pic>
        <p:nvPicPr>
          <p:cNvPr id="3" name="Picture 2" descr="Screenshot 2026-03-13 121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152" y="1834699"/>
            <a:ext cx="490369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20152" y="6012425"/>
            <a:ext cx="490369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Various scatter plots profiling relationships between discrete specific pollutants &amp; AQI value (Part 3)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Exploratory Data Analysis - Continued</a:t>
            </a:r>
          </a:p>
        </p:txBody>
      </p:sp>
      <p:pic>
        <p:nvPicPr>
          <p:cNvPr id="3" name="Picture 2" descr="Screenshot 2026-03-13 1217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960" y="1785538"/>
            <a:ext cx="4777352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79960" y="5989320"/>
            <a:ext cx="477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Various scatter plots profiling relationships between discrete specific pollutants &amp; AQI value (Part 4)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Exploratory Data Analysis - Continued</a:t>
            </a:r>
          </a:p>
        </p:txBody>
      </p:sp>
      <p:pic>
        <p:nvPicPr>
          <p:cNvPr id="3" name="Picture 2" descr="Screenshot 2026-03-13 1218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858" y="1805202"/>
            <a:ext cx="5046282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48858" y="5989320"/>
            <a:ext cx="50462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Various scatter plots profiling relationships between discrete specific pollutants &amp; AQI value (Part 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35280"/>
            <a:ext cx="6347713" cy="1320800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456" y="736138"/>
            <a:ext cx="7315200" cy="1371600"/>
          </a:xfrm>
        </p:spPr>
        <p:txBody>
          <a:bodyPr>
            <a:normAutofit fontScale="775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Identifies exactly how strongly a specific pollutant drives the total calculated AQI.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Shows direct linear relationships and applies predictive analytical logic.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3048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3-13 1218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137" y="2016298"/>
            <a:ext cx="3182587" cy="42016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20646" y="6115386"/>
            <a:ext cx="4442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 smtClean="0"/>
              <a:t>Code </a:t>
            </a:r>
            <a:r>
              <a:rPr dirty="0"/>
              <a:t>Execution for Multiple Linear Regression (Mapping PM2.5, PM10, NO2 to AQI Target)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Regression Model Training &amp; Outputs - Continued</a:t>
            </a:r>
          </a:p>
        </p:txBody>
      </p:sp>
      <p:pic>
        <p:nvPicPr>
          <p:cNvPr id="3" name="Picture 2" descr="Screenshot 2026-03-13 121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70" y="1874520"/>
            <a:ext cx="319062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10813" y="5989320"/>
            <a:ext cx="445649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Model Coefficient extraction, Prediction logic syntax, and formal Error Metric Calculations (Part 1)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Regression Model Training &amp; Outputs - Continued</a:t>
            </a:r>
          </a:p>
        </p:txBody>
      </p:sp>
      <p:pic>
        <p:nvPicPr>
          <p:cNvPr id="3" name="Picture 2" descr="Screenshot 2026-03-13 1219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7772400" cy="37865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889673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t>Model Coefficient extraction, Prediction logic syntax, and formal Error Metric Calculations (Part 2)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Regression Model Training &amp; Outputs - Continued</a:t>
            </a:r>
          </a:p>
        </p:txBody>
      </p:sp>
      <p:pic>
        <p:nvPicPr>
          <p:cNvPr id="3" name="Picture 2" descr="Screenshot 2026-03-13 1219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12" y="2011680"/>
            <a:ext cx="740937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9157" y="5979160"/>
            <a:ext cx="74093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Model Coefficient extraction, Prediction logic syntax, and formal Error Metric Calculations (Part 3)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Regression Model Training &amp; Outputs - Continued</a:t>
            </a:r>
          </a:p>
        </p:txBody>
      </p:sp>
      <p:pic>
        <p:nvPicPr>
          <p:cNvPr id="3" name="Picture 2" descr="Screenshot 2026-03-13 1219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588" y="1785538"/>
            <a:ext cx="370994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4072" y="5900338"/>
            <a:ext cx="3709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Model Coefficient extraction, Prediction logic syntax, and formal Error Metric Calculations (Part 4)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7315200" cy="914400"/>
          </a:xfrm>
        </p:spPr>
        <p:txBody>
          <a:bodyPr>
            <a:normAutofit fontScale="92500" lnSpcReduction="20000"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Showcasing highly dense data dependencies clearly using Python's robust visualization stack.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3-13 121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52" y="2011680"/>
            <a:ext cx="3236295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72929" y="5874901"/>
            <a:ext cx="514792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Data Correlation Matrix </a:t>
            </a:r>
            <a:r>
              <a:rPr dirty="0" err="1"/>
              <a:t>Heatmap</a:t>
            </a:r>
            <a:r>
              <a:rPr dirty="0"/>
              <a:t>: Showing internal relationship strengths between variables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Visualization - Continued</a:t>
            </a:r>
          </a:p>
        </p:txBody>
      </p:sp>
      <p:pic>
        <p:nvPicPr>
          <p:cNvPr id="3" name="Picture 2" descr="Screenshot 2026-03-13 1218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2011680"/>
            <a:ext cx="360045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71775" y="5989320"/>
            <a:ext cx="36004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 err="1"/>
              <a:t>Pairplot</a:t>
            </a:r>
            <a:r>
              <a:rPr dirty="0"/>
              <a:t> mappings to view complex internal distribution structures (Part 1)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Interpretation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7315200" cy="1097280"/>
          </a:xfrm>
        </p:spPr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Metro cities consistently exhibit significantly higher AQI metrics than localized zones.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PM2.5 securely correlates with maximum variance observed in general AQI.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3-13 1219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066" y="2011680"/>
            <a:ext cx="463786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53066" y="5897880"/>
            <a:ext cx="46378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Regression Line Interpretation: Predicted values formally mapped over Actual observed true values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Interpretation of Results - Continued</a:t>
            </a:r>
          </a:p>
        </p:txBody>
      </p:sp>
      <p:pic>
        <p:nvPicPr>
          <p:cNvPr id="3" name="Picture 2" descr="Screenshot 2026-03-13 1219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549" y="2011680"/>
            <a:ext cx="436890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87548" y="5989320"/>
            <a:ext cx="436890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400" i="1">
                <a:solidFill>
                  <a:srgbClr val="404040"/>
                </a:solidFill>
              </a:defRPr>
            </a:pPr>
            <a:r>
              <a:rPr dirty="0"/>
              <a:t>Analytical Residual error plots defining ML model spread logic (Part 1)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737420" y="0"/>
            <a:ext cx="8214852" cy="1152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 b="1">
                <a:solidFill>
                  <a:srgbClr val="003366"/>
                </a:solidFill>
              </a:defRPr>
            </a:pPr>
            <a:r>
              <a:rPr lang="en-IN" sz="3200" b="1" dirty="0" smtClean="0">
                <a:solidFill>
                  <a:srgbClr val="003366"/>
                </a:solidFill>
              </a:rPr>
              <a:t>	</a:t>
            </a:r>
            <a:r>
              <a:rPr lang="en-IN" sz="3200" b="1" dirty="0" err="1" smtClean="0">
                <a:solidFill>
                  <a:srgbClr val="003366"/>
                </a:solidFill>
              </a:rPr>
              <a:t>Macine</a:t>
            </a:r>
            <a:r>
              <a:rPr lang="en-IN" sz="3200" b="1" dirty="0" smtClean="0">
                <a:solidFill>
                  <a:srgbClr val="003366"/>
                </a:solidFill>
              </a:rPr>
              <a:t> leaning overfitting &amp; </a:t>
            </a:r>
            <a:r>
              <a:rPr lang="en-IN" sz="3200" b="1" dirty="0" err="1" smtClean="0">
                <a:solidFill>
                  <a:srgbClr val="003366"/>
                </a:solidFill>
              </a:rPr>
              <a:t>underfitting</a:t>
            </a:r>
            <a:r>
              <a:rPr lang="en-IN" sz="3200" b="1" dirty="0" smtClean="0">
                <a:solidFill>
                  <a:srgbClr val="003366"/>
                </a:solidFill>
              </a:rPr>
              <a:t> - Continued</a:t>
            </a:r>
            <a:endParaRPr lang="en-IN" sz="3200" b="1" dirty="0">
              <a:solidFill>
                <a:srgbClr val="00336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93" y="1299651"/>
            <a:ext cx="5791202" cy="489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10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IN" b="1" dirty="0" err="1" smtClean="0">
                <a:solidFill>
                  <a:srgbClr val="003366"/>
                </a:solidFill>
              </a:rPr>
              <a:t>Macine</a:t>
            </a:r>
            <a:r>
              <a:rPr lang="en-IN" b="1" dirty="0" smtClean="0">
                <a:solidFill>
                  <a:srgbClr val="003366"/>
                </a:solidFill>
              </a:rPr>
              <a:t> </a:t>
            </a:r>
            <a:r>
              <a:rPr lang="en-IN" b="1" dirty="0">
                <a:solidFill>
                  <a:srgbClr val="003366"/>
                </a:solidFill>
              </a:rPr>
              <a:t>leaning overfitting &amp; </a:t>
            </a:r>
            <a:r>
              <a:rPr lang="en-IN" b="1" dirty="0" err="1">
                <a:solidFill>
                  <a:srgbClr val="003366"/>
                </a:solidFill>
              </a:rPr>
              <a:t>underfitting</a:t>
            </a:r>
            <a:r>
              <a:rPr lang="en-IN" b="1" dirty="0">
                <a:solidFill>
                  <a:srgbClr val="003366"/>
                </a:solidFill>
              </a:rPr>
              <a:t> - Continued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57822"/>
            <a:ext cx="6348413" cy="2686969"/>
          </a:xfrm>
        </p:spPr>
      </p:pic>
    </p:spTree>
    <p:extLst>
      <p:ext uri="{BB962C8B-B14F-4D97-AF65-F5344CB8AC3E}">
        <p14:creationId xmlns:p14="http://schemas.microsoft.com/office/powerpoint/2010/main" val="17075044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003366"/>
                </a:solidFill>
              </a:rPr>
              <a:t>Macine</a:t>
            </a:r>
            <a:r>
              <a:rPr lang="en-IN" b="1" dirty="0">
                <a:solidFill>
                  <a:srgbClr val="003366"/>
                </a:solidFill>
              </a:rPr>
              <a:t> leaning overfitting &amp; </a:t>
            </a:r>
            <a:r>
              <a:rPr lang="en-IN" b="1" dirty="0" err="1">
                <a:solidFill>
                  <a:srgbClr val="003366"/>
                </a:solidFill>
              </a:rPr>
              <a:t>underfitting</a:t>
            </a:r>
            <a:r>
              <a:rPr lang="en-IN" b="1" dirty="0">
                <a:solidFill>
                  <a:srgbClr val="003366"/>
                </a:solidFill>
              </a:rPr>
              <a:t> - Continued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587564"/>
            <a:ext cx="6348413" cy="3027484"/>
          </a:xfrm>
        </p:spPr>
      </p:pic>
    </p:spTree>
    <p:extLst>
      <p:ext uri="{BB962C8B-B14F-4D97-AF65-F5344CB8AC3E}">
        <p14:creationId xmlns:p14="http://schemas.microsoft.com/office/powerpoint/2010/main" val="31398144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003366"/>
                </a:solidFill>
              </a:rPr>
              <a:t>Macine</a:t>
            </a:r>
            <a:r>
              <a:rPr lang="en-IN" b="1" dirty="0">
                <a:solidFill>
                  <a:srgbClr val="003366"/>
                </a:solidFill>
              </a:rPr>
              <a:t> leaning overfitting &amp; </a:t>
            </a:r>
            <a:r>
              <a:rPr lang="en-IN" b="1" dirty="0" err="1">
                <a:solidFill>
                  <a:srgbClr val="003366"/>
                </a:solidFill>
              </a:rPr>
              <a:t>underfitting</a:t>
            </a:r>
            <a:r>
              <a:rPr lang="en-IN" b="1" dirty="0">
                <a:solidFill>
                  <a:srgbClr val="003366"/>
                </a:solidFill>
              </a:rPr>
              <a:t> - Continued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99" y="2160588"/>
            <a:ext cx="4485215" cy="3881437"/>
          </a:xfrm>
        </p:spPr>
      </p:pic>
    </p:spTree>
    <p:extLst>
      <p:ext uri="{BB962C8B-B14F-4D97-AF65-F5344CB8AC3E}">
        <p14:creationId xmlns:p14="http://schemas.microsoft.com/office/powerpoint/2010/main" val="35243028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003366"/>
                </a:solidFill>
              </a:rPr>
              <a:t>Macine</a:t>
            </a:r>
            <a:r>
              <a:rPr lang="en-IN" b="1" dirty="0">
                <a:solidFill>
                  <a:srgbClr val="003366"/>
                </a:solidFill>
              </a:rPr>
              <a:t> leaning overfitting &amp; </a:t>
            </a:r>
            <a:r>
              <a:rPr lang="en-IN" b="1" dirty="0" err="1">
                <a:solidFill>
                  <a:srgbClr val="003366"/>
                </a:solidFill>
              </a:rPr>
              <a:t>underfitting</a:t>
            </a:r>
            <a:r>
              <a:rPr lang="en-IN" b="1" dirty="0">
                <a:solidFill>
                  <a:srgbClr val="003366"/>
                </a:solidFill>
              </a:rPr>
              <a:t> - Continued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497" y="2084402"/>
            <a:ext cx="3883317" cy="4242759"/>
          </a:xfrm>
        </p:spPr>
      </p:pic>
    </p:spTree>
    <p:extLst>
      <p:ext uri="{BB962C8B-B14F-4D97-AF65-F5344CB8AC3E}">
        <p14:creationId xmlns:p14="http://schemas.microsoft.com/office/powerpoint/2010/main" val="42797862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003366"/>
                </a:solidFill>
              </a:rPr>
              <a:t>Macine</a:t>
            </a:r>
            <a:r>
              <a:rPr lang="en-IN" b="1" dirty="0">
                <a:solidFill>
                  <a:srgbClr val="003366"/>
                </a:solidFill>
              </a:rPr>
              <a:t> leaning overfitting &amp; </a:t>
            </a:r>
            <a:r>
              <a:rPr lang="en-IN" b="1" dirty="0" err="1">
                <a:solidFill>
                  <a:srgbClr val="003366"/>
                </a:solidFill>
              </a:rPr>
              <a:t>underfitting</a:t>
            </a:r>
            <a:r>
              <a:rPr lang="en-IN" b="1" dirty="0">
                <a:solidFill>
                  <a:srgbClr val="003366"/>
                </a:solidFill>
              </a:rPr>
              <a:t> - Continued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58" y="1930400"/>
            <a:ext cx="4098641" cy="4262386"/>
          </a:xfrm>
        </p:spPr>
      </p:pic>
    </p:spTree>
    <p:extLst>
      <p:ext uri="{BB962C8B-B14F-4D97-AF65-F5344CB8AC3E}">
        <p14:creationId xmlns:p14="http://schemas.microsoft.com/office/powerpoint/2010/main" val="17923283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003366"/>
                </a:solidFill>
              </a:rPr>
              <a:t>Macine</a:t>
            </a:r>
            <a:r>
              <a:rPr lang="en-IN" b="1" dirty="0">
                <a:solidFill>
                  <a:srgbClr val="003366"/>
                </a:solidFill>
              </a:rPr>
              <a:t> leaning overfitting &amp; </a:t>
            </a:r>
            <a:r>
              <a:rPr lang="en-IN" b="1" dirty="0" err="1">
                <a:solidFill>
                  <a:srgbClr val="003366"/>
                </a:solidFill>
              </a:rPr>
              <a:t>underfitting</a:t>
            </a:r>
            <a:r>
              <a:rPr lang="en-IN" b="1" dirty="0">
                <a:solidFill>
                  <a:srgbClr val="003366"/>
                </a:solidFill>
              </a:rPr>
              <a:t> - Continued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44" y="2257962"/>
            <a:ext cx="5544324" cy="3686689"/>
          </a:xfrm>
        </p:spPr>
      </p:pic>
    </p:spTree>
    <p:extLst>
      <p:ext uri="{BB962C8B-B14F-4D97-AF65-F5344CB8AC3E}">
        <p14:creationId xmlns:p14="http://schemas.microsoft.com/office/powerpoint/2010/main" val="26928669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003366"/>
                </a:solidFill>
              </a:rPr>
              <a:t>Macine</a:t>
            </a:r>
            <a:r>
              <a:rPr lang="en-IN" b="1" dirty="0">
                <a:solidFill>
                  <a:srgbClr val="003366"/>
                </a:solidFill>
              </a:rPr>
              <a:t> leaning overfitting &amp; </a:t>
            </a:r>
            <a:r>
              <a:rPr lang="en-IN" b="1" dirty="0" err="1">
                <a:solidFill>
                  <a:srgbClr val="003366"/>
                </a:solidFill>
              </a:rPr>
              <a:t>underfitting</a:t>
            </a:r>
            <a:r>
              <a:rPr lang="en-IN" b="1" dirty="0">
                <a:solidFill>
                  <a:srgbClr val="003366"/>
                </a:solidFill>
              </a:rPr>
              <a:t> - Continued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48" y="2160588"/>
            <a:ext cx="5052595" cy="3881437"/>
          </a:xfrm>
        </p:spPr>
      </p:pic>
    </p:spTree>
    <p:extLst>
      <p:ext uri="{BB962C8B-B14F-4D97-AF65-F5344CB8AC3E}">
        <p14:creationId xmlns:p14="http://schemas.microsoft.com/office/powerpoint/2010/main" val="33757764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003366"/>
                </a:solidFill>
              </a:rPr>
              <a:t>Macine</a:t>
            </a:r>
            <a:r>
              <a:rPr lang="en-IN" b="1" dirty="0">
                <a:solidFill>
                  <a:srgbClr val="003366"/>
                </a:solidFill>
              </a:rPr>
              <a:t> leaning overfitting &amp; </a:t>
            </a:r>
            <a:r>
              <a:rPr lang="en-IN" b="1" dirty="0" err="1">
                <a:solidFill>
                  <a:srgbClr val="003366"/>
                </a:solidFill>
              </a:rPr>
              <a:t>underfitting</a:t>
            </a:r>
            <a:r>
              <a:rPr lang="en-IN" b="1" dirty="0">
                <a:solidFill>
                  <a:srgbClr val="003366"/>
                </a:solidFill>
              </a:rPr>
              <a:t> - Continued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56" y="2153265"/>
            <a:ext cx="4650055" cy="4311548"/>
          </a:xfrm>
        </p:spPr>
      </p:pic>
    </p:spTree>
    <p:extLst>
      <p:ext uri="{BB962C8B-B14F-4D97-AF65-F5344CB8AC3E}">
        <p14:creationId xmlns:p14="http://schemas.microsoft.com/office/powerpoint/2010/main" val="2562791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The project systematically implemented a complete environmental data analytics pipeline.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Raw, unstructured CSV data was reliably cleaned, processed, and visualized using Python.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Identified the most polluted cities and their primary causative trace gases.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Demonstrated the powerful capacity of data visualizations in formal environmental science.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Python proves highly effective and versatile for intensive large scale data analytics.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Data-driven models bridge the severe gap between raw data dumps and usable policies.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Continuous automated monitoring ensures scalable, smart-city sustainability planning.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Limitations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5200" cy="4572000"/>
          </a:xfrm>
        </p:spPr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Current limitation: strictly depends on static historical formatted CSV logs.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Future Enhancement 1: Integrate robust live Real-time REST APIs for instantaneous updates.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Future Enhancement 2: Implement more diverse Machine Learning algorithms like Random Forest.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Future Enhancement 3: Build a custom responsive interactive Web UI App using Dash / Streamlit.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1548</Words>
  <Application>Microsoft Office PowerPoint</Application>
  <PresentationFormat>On-screen Show (4:3)</PresentationFormat>
  <Paragraphs>206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Trebuchet MS</vt:lpstr>
      <vt:lpstr>Wingdings 3</vt:lpstr>
      <vt:lpstr>Facet</vt:lpstr>
      <vt:lpstr>CITY-WISE AIR QUALITY INDEX (AQI) AND AIR POLLUTION ANALYSIS </vt:lpstr>
      <vt:lpstr>Project Profile</vt:lpstr>
      <vt:lpstr>Introduction</vt:lpstr>
      <vt:lpstr>Project Overview</vt:lpstr>
      <vt:lpstr>Objectives of the System</vt:lpstr>
      <vt:lpstr>Problem Statement</vt:lpstr>
      <vt:lpstr>Features of Proposed System</vt:lpstr>
      <vt:lpstr>Hardware Requirements</vt:lpstr>
      <vt:lpstr>Software Requirements</vt:lpstr>
      <vt:lpstr>Dataset Overview</vt:lpstr>
      <vt:lpstr>Dataset Overview - Continued</vt:lpstr>
      <vt:lpstr>Dataset Overview - Continued</vt:lpstr>
      <vt:lpstr>Dataset Characteristics</vt:lpstr>
      <vt:lpstr>Methodology</vt:lpstr>
      <vt:lpstr>Data Cleaning</vt:lpstr>
      <vt:lpstr>Data Cleaning Pipelines - Continued</vt:lpstr>
      <vt:lpstr>Data Cleaning Pipelines - Continued</vt:lpstr>
      <vt:lpstr>Data Cleaning Pipelines - Continued</vt:lpstr>
      <vt:lpstr>Data Cleaning Formatting - Continued</vt:lpstr>
      <vt:lpstr>Data Cleaning Formatting - Continued</vt:lpstr>
      <vt:lpstr>Data Cleaning Formatting - Continued</vt:lpstr>
      <vt:lpstr>Data Cleaning Formatting - Continued</vt:lpstr>
      <vt:lpstr>Exploratory Data Analysis (EDA)</vt:lpstr>
      <vt:lpstr>Exploratory Data Analysis - Continued</vt:lpstr>
      <vt:lpstr>Exploratory Data Analysis - Continued</vt:lpstr>
      <vt:lpstr>Exploratory Data Analysis - Continued</vt:lpstr>
      <vt:lpstr>Exploratory Data Analysis - Continued</vt:lpstr>
      <vt:lpstr>Exploratory Data Analysis - Continued</vt:lpstr>
      <vt:lpstr>Regression Analysis</vt:lpstr>
      <vt:lpstr>Regression Model Training &amp; Outputs - Continued</vt:lpstr>
      <vt:lpstr>Regression Model Training &amp; Outputs - Continued</vt:lpstr>
      <vt:lpstr>Regression Model Training &amp; Outputs - Continued</vt:lpstr>
      <vt:lpstr>Regression Model Training &amp; Outputs - Continued</vt:lpstr>
      <vt:lpstr>Data Visualization</vt:lpstr>
      <vt:lpstr>Data Visualization - Continued</vt:lpstr>
      <vt:lpstr>Interpretation of Results</vt:lpstr>
      <vt:lpstr>Interpretation of Results - Continued</vt:lpstr>
      <vt:lpstr>PowerPoint Presentation</vt:lpstr>
      <vt:lpstr>Macine leaning overfitting &amp; underfitting - Continued</vt:lpstr>
      <vt:lpstr>Macine leaning overfitting &amp; underfitting - Continued</vt:lpstr>
      <vt:lpstr>Macine leaning overfitting &amp; underfitting - Continued</vt:lpstr>
      <vt:lpstr>Macine leaning overfitting &amp; underfitting - Continued</vt:lpstr>
      <vt:lpstr>Macine leaning overfitting &amp; underfitting - Continued</vt:lpstr>
      <vt:lpstr>Macine leaning overfitting &amp; underfitting - Continued</vt:lpstr>
      <vt:lpstr>Macine leaning overfitting &amp; underfitting - Continued</vt:lpstr>
      <vt:lpstr>Macine leaning overfitting &amp; underfitting - Continued</vt:lpstr>
      <vt:lpstr>Summary</vt:lpstr>
      <vt:lpstr>Conclusion</vt:lpstr>
      <vt:lpstr>Limitations &amp; Future Enhancements</vt:lpstr>
      <vt:lpstr>PROJECT SCREENSHOTS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CITY-WISE AIR QUALITY INDEX (AQI) AND AIR POLLUTION ANALYSIS</dc:title>
  <dc:subject/>
  <dc:creator>Dell</dc:creator>
  <cp:keywords/>
  <dc:description>generated using python-pptx</dc:description>
  <cp:lastModifiedBy>Dell</cp:lastModifiedBy>
  <cp:revision>11</cp:revision>
  <dcterms:created xsi:type="dcterms:W3CDTF">2013-01-27T09:14:16Z</dcterms:created>
  <dcterms:modified xsi:type="dcterms:W3CDTF">2026-03-16T05:51:53Z</dcterms:modified>
  <cp:category/>
</cp:coreProperties>
</file>